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2324100"/>
            <a:ext cx="1600200" cy="209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00413" y="2914650"/>
            <a:ext cx="9391173" cy="57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537"/>
              </a:lnSpc>
            </a:pPr>
            <a:r>
              <a:rPr b="1" sz="4125" i="0" u="none">
                <a:solidFill>
                  <a:srgbClr val="364F59"/>
                </a:solidFill>
                <a:latin typeface="Montserrat"/>
              </a:rPr>
              <a:t>Resultado de Aprendizaje 1 (RA1)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0787" y="3681412"/>
            <a:ext cx="72104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Open Sans SemiBold"/>
              </a:rPr>
              <a:t>Arquitecturas y Tecnologías de Programación sobre Clientes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8112" y="4119562"/>
            <a:ext cx="4295775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Open Sans"/>
              </a:rPr>
              <a:t>Módulo: Desarrollo Web en Entorno Cliente (DAW)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43050"/>
            <a:ext cx="5286375" cy="4510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543050"/>
            <a:ext cx="5286375" cy="4510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50" y="1924050"/>
            <a:ext cx="469058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64F59"/>
                </a:solidFill>
                <a:latin typeface="Montserrat"/>
              </a:rPr>
              <a:t>Fundamentos y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275" y="1924050"/>
            <a:ext cx="469058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64F59"/>
                </a:solidFill>
                <a:latin typeface="Montserrat"/>
              </a:rPr>
              <a:t>Ejecución, Lenguajes y 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7775" y="2371725"/>
            <a:ext cx="4229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1: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Modelo Cliente/Servidor y Distribución del Procesamiento.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3086100"/>
            <a:ext cx="4229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2: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Evolución Arquitectónica Web: De MPA a SPA e Híbridas.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800475"/>
            <a:ext cx="4229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3: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Anatomía y Capas Internas de los Navegadores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4514850"/>
            <a:ext cx="4229100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4: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Motores JavaScript y Compilación JIT.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4957762"/>
            <a:ext cx="4229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5: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Concurrencia Monohilo, Call Stack y Event Loop.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2371725"/>
            <a:ext cx="4229100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6: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El Pipeline de Renderizado Crítico.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2814637"/>
            <a:ext cx="4229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7: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Ecosistema: JS, TypeScript y WebAssembly.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3529012"/>
            <a:ext cx="4229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8: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Scripts vs Programación Tradicional y Sandbox.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4243387"/>
            <a:ext cx="4229100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9: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Seguridad Web: SOP y CORS.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4686300"/>
            <a:ext cx="4229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Parte 10: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Integración HTML5, DevTools y Lighthouse.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240982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312420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383857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455295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4995862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240982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2275" y="2852737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3567112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2275" y="4281487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2275" y="472440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Índice de la Presentación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43050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543050"/>
            <a:ext cx="5048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Flujo de Comunicación: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Protocolo HTTP/HTTPS mediante ciclos de Petición (Request) y Respuesta (Response).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257425"/>
            <a:ext cx="504825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Servidor (Backend):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Responsable del acceso a BD, custodia de secretos y validación definitiva. Asegura integridad, pero añade latencia (RTT).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243262"/>
            <a:ext cx="504825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Cliente (Frontend):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Renderizado UI e interactividad. Aprovecha la CPU/RAM del usuario (cómputo descentralizado).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229100"/>
            <a:ext cx="5048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Validación Local: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Mejora enormemente la experiencia de usuario (UX) dando respuesta inmediata sin saturar la 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943475"/>
            <a:ext cx="5048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Regla de oro: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El cliente es un </a:t>
            </a:r>
            <a:r>
              <a:rPr b="1" sz="1425" i="0" u="none">
                <a:solidFill>
                  <a:srgbClr val="364F59"/>
                </a:solidFill>
                <a:latin typeface="Open Sans"/>
              </a:rPr>
              <a:t>entorno no confiable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. Las validaciones frontend no eximen de validar en backend.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543050"/>
            <a:ext cx="5286375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158115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29552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281362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26720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98157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1. Modelo Cliente/Servidor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543050"/>
            <a:ext cx="11049000" cy="37480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543050"/>
          <a:ext cx="11048999" cy="3748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11573"/>
                <a:gridCol w="3102471"/>
                <a:gridCol w="2972395"/>
                <a:gridCol w="2862560"/>
              </a:tblGrid>
              <a:tr h="624681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Característica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4F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MPA Clásica (Tradicional)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4F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SPA (Single-Page App)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4F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SSR Híbrido Moderno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4F59"/>
                    </a:solidFill>
                  </a:tcPr>
                </a:tc>
              </a:tr>
              <a:tr h="624681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Tecnologías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PHP, JSP, ASP.NET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React, Angular, Vue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Next.js, Astro, Nuxt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681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Generación Inicial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Servidor (HTML completo)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Cliente (HTML cascarón)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Servidor (HTML completo)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24681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Navegación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Recarga completa de página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Interceptada por JS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Interceptada tras hidratar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681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Tráfico de 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Descarga de HTML+Recursos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Peticiones JSON mínimas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JSON / Server Components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2468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Indexación (SEO)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Excelente de forma nativa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Requiere renderizado extra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Excelente y optimizada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166937"/>
            <a:ext cx="2111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83073" y="2166937"/>
            <a:ext cx="3102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85544" y="2166937"/>
            <a:ext cx="2972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57939" y="2166937"/>
            <a:ext cx="286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790825"/>
            <a:ext cx="2111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83073" y="2790825"/>
            <a:ext cx="3102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85544" y="2790825"/>
            <a:ext cx="2972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7939" y="2790825"/>
            <a:ext cx="286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414712"/>
            <a:ext cx="2111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83073" y="3414712"/>
            <a:ext cx="3102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85544" y="3414712"/>
            <a:ext cx="2972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57939" y="3414712"/>
            <a:ext cx="286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038600"/>
            <a:ext cx="2111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83073" y="4038600"/>
            <a:ext cx="3102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85544" y="4038600"/>
            <a:ext cx="2972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57939" y="4038600"/>
            <a:ext cx="286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4662487"/>
            <a:ext cx="2111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3073" y="4662487"/>
            <a:ext cx="3102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85544" y="4662487"/>
            <a:ext cx="2972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57939" y="4662487"/>
            <a:ext cx="286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2. Evolución de Arquitecturas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43050"/>
            <a:ext cx="3492549" cy="31670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543050"/>
            <a:ext cx="3492549" cy="31670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543050"/>
            <a:ext cx="3492549" cy="3167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547" y="2619375"/>
            <a:ext cx="244030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User Interface (UI)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67050"/>
            <a:ext cx="311154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Comprende la barra de direcciones, pestañas, marcadores y controles. El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Browser Engine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orquesta las acciones entre la UI y los motores subyacentes, actuando como puente principal.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5812" y="2619375"/>
            <a:ext cx="3000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Motor de Renderizado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0299" y="3067050"/>
            <a:ext cx="31115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Procesa HTML y CSS para calcular geometría y dibujar en pantalla. Ejemplos líderes: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Blink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(Chrome, Edge),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Gecko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(Firefox) y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WebKit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(Safari / iOS).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29156" y="2619375"/>
            <a:ext cx="229028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Motor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8599" y="3067050"/>
            <a:ext cx="311154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Interpreta y compila código ECMAScript a instrucciones de CPU. No debe confundirse con el motor de render. Destacan: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V8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(Google),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SpiderMonkey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(Mozilla) y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Nitro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(Apple).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675" y="1962150"/>
            <a:ext cx="40005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2162" y="1962150"/>
            <a:ext cx="447675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8087" y="1962150"/>
            <a:ext cx="352425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3. Anatomía Interna de los Navegadores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43050"/>
            <a:ext cx="3492549" cy="3409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543050"/>
            <a:ext cx="3492549" cy="3409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543050"/>
            <a:ext cx="3492549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2541" y="2619375"/>
            <a:ext cx="255031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1. Scanner &amp; Parser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67050"/>
            <a:ext cx="311154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El código fuente (texto) es descompuesto en tokens sintácticos para generar el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AST (Abstract Syntax Tree)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, una estructura de datos que representa lógicamente el programa.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5813" y="2619375"/>
            <a:ext cx="298037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2. Ignition (Intérprete)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0299" y="3067050"/>
            <a:ext cx="311154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Genera rápidamente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Bytecode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a partir del AST. El código se ejecuta inmediatamente sin esperas, proporcionando tiempos de inicio muy rápidos en la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4159" y="2619375"/>
            <a:ext cx="22402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3. TurboFan (JIT)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8599" y="3067050"/>
            <a:ext cx="3111549" cy="1457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El Profiler detecta funciones muy usadas (</a:t>
            </a:r>
            <a:r>
              <a:rPr b="0" sz="1275" i="1" u="none">
                <a:solidFill>
                  <a:srgbClr val="334155"/>
                </a:solidFill>
                <a:latin typeface="Open Sans"/>
              </a:rPr>
              <a:t>Hot Functions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). TurboFan compila el bytecode a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Código Máquina Nativo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super optimizado. Puede sufrir deoptimización si cambian los tipos de datos.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287" y="1962150"/>
            <a:ext cx="5048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9787" y="1962150"/>
            <a:ext cx="352425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4274" y="1962150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4. Compilación JIT en el Motor V8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43050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543050"/>
            <a:ext cx="504825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La Paradoja: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JS es de un hilo (Call Stack), pero el navegador proporciona APIs asíncronas en hilos de fondo para no congelar la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528887"/>
            <a:ext cx="5048250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Call Stack: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Ejecuta funciones síncronas una a una (LIFO).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971800"/>
            <a:ext cx="5048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Microtask Queue: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Alta prioridad. Aloja Callbacks de Promesas y MutationObservers.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686175"/>
            <a:ext cx="5048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Task Queue (Macrotareas):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Funciones como setTimeout, eventos de ratón o I/O.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400550"/>
            <a:ext cx="504825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El Algoritmo: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El Event Loop espera a que el Call Stack esté vacío, luego vacía </a:t>
            </a:r>
            <a:r>
              <a:rPr b="0" sz="1425" i="1" u="none">
                <a:solidFill>
                  <a:srgbClr val="334155"/>
                </a:solidFill>
                <a:latin typeface="Open Sans"/>
              </a:rPr>
              <a:t>todas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las Microtareas, renderiza la pantalla y finalmente procesa </a:t>
            </a:r>
            <a:r>
              <a:rPr b="0" sz="1425" i="1" u="none">
                <a:solidFill>
                  <a:srgbClr val="334155"/>
                </a:solidFill>
                <a:latin typeface="Open Sans"/>
              </a:rPr>
              <a:t>una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Macrotarea.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543050"/>
            <a:ext cx="5286375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158115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566987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00990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72427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43865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5. Event Loop y Concurrencia Monohilo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9750" y="5253037"/>
            <a:ext cx="8572500" cy="542925"/>
          </a:xfrm>
          <a:prstGeom prst="rect">
            <a:avLst/>
          </a:prstGeom>
          <a:noFill/>
        </p:spPr>
        <p:txBody>
          <a:bodyPr wrap="square" lIns="276225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Open Sans SemiBold"/>
              </a:rPr>
              <a:t>¡Cuidado con el Layout Thrashing! Alternar lecturas y escrituras del DOM en bucles fuerza recalcular el Layout repetidamente, hundiendo los FPS de la animación.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2" y="5300662"/>
            <a:ext cx="180975" cy="1809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33500" y="1543050"/>
            <a:ext cx="4572000" cy="828675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62125" y="1685925"/>
            <a:ext cx="40005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64F59"/>
                </a:solidFill>
                <a:latin typeface="Open Sans"/>
              </a:rPr>
              <a:t>1. Árbol DOM: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Nodos lógicos generados a partir de las etiquetas del documento HTML.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500" y="1543050"/>
            <a:ext cx="4572000" cy="828675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5125" y="1685925"/>
            <a:ext cx="40005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64F59"/>
                </a:solidFill>
                <a:latin typeface="Open Sans"/>
              </a:rPr>
              <a:t>2. CSSOM: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Árbol de reglas y estilos calculados desde las hojas de estilo CSS.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2657475"/>
            <a:ext cx="4572000" cy="1100137"/>
          </a:xfrm>
          <a:prstGeom prst="roundRect">
            <a:avLst>
              <a:gd name="adj" fmla="val 692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2125" y="2800350"/>
            <a:ext cx="400050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64F59"/>
                </a:solidFill>
                <a:latin typeface="Open Sans"/>
              </a:rPr>
              <a:t>3. Render Tree: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Fusión de DOM y CSSOM. Descarta elementos no visibles (`display: none`).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2657475"/>
            <a:ext cx="4572000" cy="1100137"/>
          </a:xfrm>
          <a:prstGeom prst="roundRect">
            <a:avLst>
              <a:gd name="adj" fmla="val 692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5125" y="2800350"/>
            <a:ext cx="400050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64F59"/>
                </a:solidFill>
                <a:latin typeface="Open Sans"/>
              </a:rPr>
              <a:t>4. Layout / Reflow: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Cálculo matemático exacto de dimensiones y coordenadas de cada caja en pantalla.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3500" y="4043362"/>
            <a:ext cx="4572000" cy="828675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62125" y="4186237"/>
            <a:ext cx="40005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64F59"/>
                </a:solidFill>
                <a:latin typeface="Open Sans"/>
              </a:rPr>
              <a:t>5. Paint: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Rasterizado de píxeles (texto, colores, sombras) en capas de mapa de bits.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4043362"/>
            <a:ext cx="4572000" cy="828675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5125" y="4186237"/>
            <a:ext cx="40005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64F59"/>
                </a:solidFill>
                <a:latin typeface="Open Sans"/>
              </a:rPr>
              <a:t>6. Composite: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La tarjeta gráfica (GPU) unifica todas las capas y las proyecta al monitor.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700212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00212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814637"/>
            <a:ext cx="2095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814637"/>
            <a:ext cx="20955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200525"/>
            <a:ext cx="209550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200525"/>
            <a:ext cx="209550" cy="2190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6. Pipeline de Renderizado Crítico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43050"/>
            <a:ext cx="3492549" cy="3409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543050"/>
            <a:ext cx="3492549" cy="3409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543050"/>
            <a:ext cx="3492549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2554" y="2619375"/>
            <a:ext cx="233029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JavaScript (ES6+)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67050"/>
            <a:ext cx="311154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El estándar nativo regulado por el comité TC39. Gestiona el DOM, interactividad y peticiones de red. Su evolución anual permite sintaxis moderna como `async/await`.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5908" y="2619375"/>
            <a:ext cx="146018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0299" y="3067050"/>
            <a:ext cx="3111549" cy="1457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Superset empresarial creado por Microsoft que aporta tipos estáticos y validación. No corre en el navegador: se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transpila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a JavaScript estándar asegurando código libre de bugs tipográficos.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4108" y="2619375"/>
            <a:ext cx="306038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WebAssembly (Wasm)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8599" y="3067050"/>
            <a:ext cx="311154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Formato binario para la web. Se compila desde C++, Rust o Go. Proporciona aceleración casi nativa para tareas pesadas (motores 3D, edición de vídeo) complementando a JS.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1487" y="1962150"/>
            <a:ext cx="3524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1962150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4274" y="1962150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7. Ecosistema de Lenguajes Cliente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43050"/>
            <a:ext cx="5286375" cy="4167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543050"/>
            <a:ext cx="5286375" cy="4167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50" y="1924050"/>
            <a:ext cx="469058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64F59"/>
                </a:solidFill>
                <a:latin typeface="Montserrat"/>
              </a:rPr>
              <a:t>Diferencias Estructurales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275" y="1924050"/>
            <a:ext cx="469058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64F59"/>
                </a:solidFill>
                <a:latin typeface="Montserrat"/>
              </a:rPr>
              <a:t>El Modelo Sandbox de 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7775" y="2371725"/>
            <a:ext cx="422910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Compilación: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Softwares tradicionales compilan previo a la ejecución (AOT). La Web compila al vuelo en memoria (JIT).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3357562"/>
            <a:ext cx="422910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Gestión de Memoria: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En C/C++ es manual (punteros). JS es dinámico y usa un Recolector de Basura (Garbage Collector).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4343400"/>
            <a:ext cx="422910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Tipado: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Históricamente dinámico y de coerción débil en scripts, frente al estricto tipado tradicional.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0" y="2371725"/>
            <a:ext cx="422910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Aislamiento: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Al ejecutar código de internet no confiable, el navegador lo confina en una "caja de arena".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0" y="3357562"/>
            <a:ext cx="4229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Restricciones de E/S: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Prohibido leer el disco duro del usuario (salvo API de Permisos o inputs).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4071937"/>
            <a:ext cx="422910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Site Isolation: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Cada pestaña corre en procesos separados del SO mitigando vulnerabilidades hardware como Spectre.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240982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3395662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438150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240982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3395662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4110037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8. Scripts Web vs. Programación Tradicional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43050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543050"/>
            <a:ext cx="504825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Same-Origin Policy (SOP):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Política crucial. Un script solo accede a recursos de otro dominio si comparten </a:t>
            </a:r>
            <a:r>
              <a:rPr b="0" sz="1425" i="1" u="none">
                <a:solidFill>
                  <a:srgbClr val="334155"/>
                </a:solidFill>
                <a:latin typeface="Open Sans"/>
              </a:rPr>
              <a:t>exactamente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el </a:t>
            </a:r>
            <a:r>
              <a:rPr b="1" sz="1425" i="0" u="none">
                <a:solidFill>
                  <a:srgbClr val="334155"/>
                </a:solidFill>
                <a:latin typeface="Open Sans"/>
              </a:rPr>
              <a:t>Protocolo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, </a:t>
            </a:r>
            <a:r>
              <a:rPr b="1" sz="1425" i="0" u="none">
                <a:solidFill>
                  <a:srgbClr val="334155"/>
                </a:solidFill>
                <a:latin typeface="Open Sans"/>
              </a:rPr>
              <a:t>Host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y </a:t>
            </a:r>
            <a:r>
              <a:rPr b="1" sz="1425" i="0" u="none">
                <a:solidFill>
                  <a:srgbClr val="334155"/>
                </a:solidFill>
                <a:latin typeface="Open Sans"/>
              </a:rPr>
              <a:t>Puerto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528887"/>
            <a:ext cx="5048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CORS (Cross-Origin Resource Sharing):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Mecanismo que flexibiliza el SOP permitiendo peticiones seguras entre dominios distintos mediante cabeceras HTTP explícitas del servidor (`Access-Control-Allow-Origin`).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786187"/>
            <a:ext cx="5048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Open Sans"/>
              </a:rPr>
              <a:t>Petición Preflight: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Para métodos que alteran datos (PUT, DELETE), el navegador envía preventivamente una solicitud </a:t>
            </a:r>
            <a:r>
              <a:rPr b="1" sz="1425" i="0" u="none">
                <a:solidFill>
                  <a:srgbClr val="334155"/>
                </a:solidFill>
                <a:latin typeface="Open Sans"/>
              </a:rPr>
              <a:t>OPTIONS</a:t>
            </a:r>
            <a:r>
              <a:rPr b="0" sz="1425" i="0" u="none">
                <a:solidFill>
                  <a:srgbClr val="334155"/>
                </a:solidFill>
                <a:latin typeface="Open Sans"/>
              </a:rPr>
              <a:t> para verificar la autorización del servidor.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543050"/>
            <a:ext cx="5286375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58115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566987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24287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64F59"/>
                </a:solidFill>
                <a:latin typeface="Open Sans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9. Seguridad de Red: SOP y CORS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43050"/>
            <a:ext cx="3492549" cy="31956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543050"/>
            <a:ext cx="3492549" cy="31956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543050"/>
            <a:ext cx="3492549" cy="3195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7540" y="2619375"/>
            <a:ext cx="25603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Integración 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67050"/>
            <a:ext cx="3111549" cy="124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Atributos vitales: 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async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(ejecución sin orden) y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defer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(respeta el orden y el parseo). 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type="module"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aporta modularidad nativa (ES6), aislamiento y strict mode automático.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0826" y="2619375"/>
            <a:ext cx="277034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DevTools Integradas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0299" y="3067050"/>
            <a:ext cx="31115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El panel F12 es indispensable: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Elements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(DOM/CSS),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Console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(REPL),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Sources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(Depurador con Breakpoints), y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Network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para el análisis del tráfico HTTP.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4124" y="2619375"/>
            <a:ext cx="2800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64F59"/>
                </a:solidFill>
                <a:latin typeface="Montserrat"/>
              </a:rPr>
              <a:t>Auditoría Web Vitals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8599" y="3067050"/>
            <a:ext cx="311154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Open Sans"/>
              </a:rPr>
              <a:t>Google Lighthouse mide las métricas vitales: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LCP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(velocidad visual principal),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INP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(latencia de interactividad) y </a:t>
            </a:r>
            <a:r>
              <a:rPr b="1" sz="1275" i="0" u="none">
                <a:solidFill>
                  <a:srgbClr val="334155"/>
                </a:solidFill>
                <a:latin typeface="Open Sans"/>
              </a:rPr>
              <a:t>CLS</a:t>
            </a:r>
            <a:r>
              <a:rPr b="0" sz="1275" i="0" u="none">
                <a:solidFill>
                  <a:srgbClr val="334155"/>
                </a:solidFill>
                <a:latin typeface="Open Sans"/>
              </a:rPr>
              <a:t> (estabilidad visual para evitar saltos en pantalla).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5300" y="1962150"/>
            <a:ext cx="30480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1962150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4274" y="1962150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10. Herramientas, Módulos y Auditoría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543050"/>
            <a:ext cx="11049000" cy="43719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543050"/>
          <a:ext cx="11049000" cy="437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62250"/>
                <a:gridCol w="8286750"/>
              </a:tblGrid>
              <a:tr h="624567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Tema Principal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4F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Concepto Clave de Evaluación y Retención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4F59"/>
                    </a:solidFill>
                  </a:tcPr>
                </a:tc>
              </a:tr>
              <a:tr h="624567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Modelo Cliente/Servidor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Validación UX (rápida) en cliente vs seguridad e integridad real en servidor.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567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Arquitectura de Apps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SPAs con History API y evolución a hidratación en frameworks SSR modernos.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24567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Motores y Compilación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Renderizado (Blink, WebKit) separado del motor JS (V8 con JIT TurboFan).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567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Ejecución y Flujos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Call Stack monohilo, Event Loop y prioridad de Promesas (Microtask Queue).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24567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Critical Rendering 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Fases gráficas y peligro de reflows masivos por Layout Thrashing con JS.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573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Ecosistema y Seguridad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Open Sans"/>
                        </a:rPr>
                        <a:t>Tipado TypeScript (transpilado), Sandbox aislante, y validaciones SOP/CORS.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16693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3750" y="2166937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79082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3750" y="2790825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41471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750" y="3414712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03860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3750" y="4038600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66248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3750" y="4662487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28637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3750" y="5286375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Resumen Ejecutivo de Competencias del RA1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4387" y="1543050"/>
            <a:ext cx="105632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4387" y="2314575"/>
            <a:ext cx="105632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4387" y="2305050"/>
            <a:ext cx="10563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4387" y="2305050"/>
            <a:ext cx="10563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387" y="3076575"/>
            <a:ext cx="10563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387" y="3076575"/>
            <a:ext cx="10563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7" y="16859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09762" y="1693068"/>
            <a:ext cx="94678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https://media.istockphoto.com/id/2149328154/vector/lan-network-3d-diagram.jpg?s=612x612&amp;w=0&amp;k=20&amp;c=0sWs7plVl8iAwxR1eNJVwWEROHpmzkNcM3BuGg4nQOg=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9762" y="1926431"/>
            <a:ext cx="9467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www.istockphoto.com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7" y="245745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09762" y="2464593"/>
            <a:ext cx="94678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https://as-api-ws-cdn-1.tdacestudio.com/web/content/1675e24656194febcb49a5f8c8e9d71e.jpeg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9762" y="2697956"/>
            <a:ext cx="9467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acestudio.ai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87" y="322897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09762" y="3236118"/>
            <a:ext cx="94678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https://media.easy-peasy.ai/66907430-4c24-408b-8bf0-7f9210e4a5f7/02360a1a-3eea-4385-b886-03fb43af53d4_medium.webp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9762" y="3469481"/>
            <a:ext cx="9467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easy-peasy.ai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64F59"/>
                </a:solidFill>
                <a:latin typeface="Montserrat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6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